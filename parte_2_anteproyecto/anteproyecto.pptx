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802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Sostenido</c:v>
                  </c:pt>
                  <c:pt idx="1">
                    <c:v>Pico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1500</c:v>
                </c:pt>
                <c:pt idx="1">
                  <c:v>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B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ANTEPROYECTO INTEGRADOR  ·  INFRAESTRUCTURA PARA CIENCIA DE DATOS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de Telemetría para Detección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Amenazas en Ciberseguridad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41248" y="32461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reproducible de ingesta y análisis de eventos de seguridad para una empresa de software de laboratorio clínico con despliegues on-premise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452628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45262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15768" y="452628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B5A5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71800" y="452628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45262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452628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B5A5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02352" y="452628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45262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76872" y="452628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B5A5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32904" y="452628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2904" y="45262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07424" y="452628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B5A5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63456" y="452628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63456" y="45262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Integrante: </a:t>
            </a:r>
            <a:pPr indent="0" marL="0">
              <a:buNone/>
            </a:pPr>
            <a:r>
              <a:rPr lang="en-US" sz="130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Koen Wittig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51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organizacional y necesidad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126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de software que desarrolla y opera un LIS (sistema de información de laboratorio) desplegado on-premise en laboratorios clínicos. La telemetría existe, pero vive en silos: cada sede genera sus propios registros, con formatos, husos y retenciones distintos.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una vía común no hay correlación entre sedes ni detección casi en tiempo real, y la investigación es manual y lenta — en un entorno que procesa datos de salud, donde una intrusión puede pasar días sin detectarse.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6126480" cy="1143000"/>
          </a:xfrm>
          <a:prstGeom prst="roundRect">
            <a:avLst>
              <a:gd name="adj" fmla="val 5600"/>
            </a:avLst>
          </a:prstGeom>
          <a:solidFill>
            <a:srgbClr val="EFF4F7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34340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es de infraestructura de datos, antes que de modelos de detección.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0" y="1417320"/>
            <a:ext cx="22402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0" y="167335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086600" y="249631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 clientes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464040" y="1417320"/>
            <a:ext cx="22402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464040" y="167335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~1.500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9601200" y="249631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(sedes + DC)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0" y="3474720"/>
            <a:ext cx="22402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373075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086600" y="455371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en seguridad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64040" y="3474720"/>
            <a:ext cx="2240280" cy="1783080"/>
          </a:xfrm>
          <a:prstGeom prst="roundRect">
            <a:avLst>
              <a:gd name="adj" fmla="val 3590"/>
            </a:avLst>
          </a:prstGeom>
          <a:solidFill>
            <a:srgbClr val="0F2A43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64040" y="373075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B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días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601200" y="455371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detectar hoy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51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Fuentes de datos: volumen, velocidad, variedad y calidad</a:t>
            </a:r>
            <a:endParaRPr lang="en-US" sz="2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943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Servidores LIS (app + auditoría)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/ texto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y EDR (serv. y estaciones)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/ NetFlow / VPN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Clave-valor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/ 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(AD / IdP)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463040"/>
            <a:ext cx="4754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0" y="1463040"/>
            <a:ext cx="109728" cy="10241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7150608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50608" y="1938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~1.500 EPS sostenido (40 sedes + DC) · ~30 GB/día · ~11 TB/año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0" y="2670048"/>
            <a:ext cx="4754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0" y="2670048"/>
            <a:ext cx="109728" cy="1024128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2" name="Text 9"/>
          <p:cNvSpPr/>
          <p:nvPr/>
        </p:nvSpPr>
        <p:spPr>
          <a:xfrm>
            <a:off x="7150608" y="27797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Velocidad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50608" y="314553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continuo → procesamiento en streaming, no batch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0" y="3877056"/>
            <a:ext cx="4754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0" y="3877056"/>
            <a:ext cx="109728" cy="1024128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6" name="Text 13"/>
          <p:cNvSpPr/>
          <p:nvPr/>
        </p:nvSpPr>
        <p:spPr>
          <a:xfrm>
            <a:off x="7150608" y="39867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Variedad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150608" y="435254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esquemas semiestructurados; husos y fechas dispares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858000" y="5084064"/>
            <a:ext cx="4754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58000" y="5084064"/>
            <a:ext cx="109728" cy="1024128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20" name="Text 17"/>
          <p:cNvSpPr/>
          <p:nvPr/>
        </p:nvSpPr>
        <p:spPr>
          <a:xfrm>
            <a:off x="7150608" y="5193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Calidad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150608" y="555955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faltantes, duplicados, timestamps desfasados, fuentes caídas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51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Carga de procesamiento y restricciones infraestructurales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Carga de ingesta (eventos/segundo)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58521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80560"/>
            <a:ext cx="2788920" cy="914400"/>
          </a:xfrm>
          <a:prstGeom prst="roundRect">
            <a:avLst>
              <a:gd name="adj" fmla="val 7000"/>
            </a:avLst>
          </a:prstGeom>
          <a:solidFill>
            <a:srgbClr val="EFF4F7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455371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60 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50292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→ alerta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66160" y="4480560"/>
            <a:ext cx="2788920" cy="914400"/>
          </a:xfrm>
          <a:prstGeom prst="roundRect">
            <a:avLst>
              <a:gd name="adj" fmla="val 7000"/>
            </a:avLst>
          </a:prstGeom>
          <a:solidFill>
            <a:srgbClr val="EFF4F7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66160" y="455371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~11 TB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566160" y="50292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12 meses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Restricciones infraestructurales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0" y="1783080"/>
            <a:ext cx="47548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040880" y="2029968"/>
            <a:ext cx="347472" cy="347472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16" name="Text 13"/>
          <p:cNvSpPr/>
          <p:nvPr/>
        </p:nvSpPr>
        <p:spPr>
          <a:xfrm>
            <a:off x="7571232" y="18745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Equipo pequeño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571232" y="21945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pila debe ser operable por 2–3 personas.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858000" y="2788920"/>
            <a:ext cx="47548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040880" y="3035808"/>
            <a:ext cx="347472" cy="347472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20" name="Text 17"/>
          <p:cNvSpPr/>
          <p:nvPr/>
        </p:nvSpPr>
        <p:spPr>
          <a:xfrm>
            <a:off x="7571232" y="28803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de salud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571232" y="32004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telemetría de seguridad; nunca datos clínicos (minimización).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858000" y="3794760"/>
            <a:ext cx="47548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040880" y="4041648"/>
            <a:ext cx="347472" cy="347472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24" name="Text 21"/>
          <p:cNvSpPr/>
          <p:nvPr/>
        </p:nvSpPr>
        <p:spPr>
          <a:xfrm>
            <a:off x="7571232" y="3886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Sedes distribuidas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571232" y="42062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Colectores edge con buffer local toleran cortes de enlace.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858000" y="4800600"/>
            <a:ext cx="47548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40880" y="5047488"/>
            <a:ext cx="347472" cy="347472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28" name="Text 25"/>
          <p:cNvSpPr/>
          <p:nvPr/>
        </p:nvSpPr>
        <p:spPr>
          <a:xfrm>
            <a:off x="7571232" y="4892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Casi en tiempo real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7571232" y="52120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en flujo + bus que absorbe picos.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51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preliminar propuesta</a:t>
            </a:r>
            <a:endParaRPr lang="en-US" sz="2300" dirty="0"/>
          </a:p>
        </p:txBody>
      </p:sp>
      <p:pic>
        <p:nvPicPr>
          <p:cNvPr id="5" name="Image 0" descr="arq_sl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10515600" cy="50604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68035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híbrido: colectores edge en cada sede reenvían cifrada solo la telemetría de seguridad al núcleo central; capa caliente para investigación reciente, fría para hunting histórico.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51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Alternativas comparadas y criterios de selección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118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7556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warehouse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+  </a:t>
            </a:r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muy rápidas; esquema fuerte y consistente.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8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–  </a:t>
            </a:r>
            <a:pPr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alto en retención larga; rígido ante variedad y esquemas cambiantes.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36118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17556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lake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25146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+  </a:t>
            </a:r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costo; flexible; retención larga trivial.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8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–  </a:t>
            </a:r>
            <a:pPr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búsqueda interactiva; gobierno más débil; streaming menos directo.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0" y="1463040"/>
            <a:ext cx="3611880" cy="3520440"/>
          </a:xfrm>
          <a:prstGeom prst="roundRect">
            <a:avLst>
              <a:gd name="adj" fmla="val 2078"/>
            </a:avLst>
          </a:prstGeom>
          <a:solidFill>
            <a:srgbClr val="ECF7F5"/>
          </a:solidFill>
          <a:ln w="25400">
            <a:solidFill>
              <a:srgbClr val="12B5A5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68512" y="1737360"/>
            <a:ext cx="548640" cy="548640"/>
          </a:xfrm>
          <a:prstGeom prst="ellipse">
            <a:avLst/>
          </a:prstGeom>
          <a:solidFill>
            <a:srgbClr val="12B5A5"/>
          </a:solidFill>
          <a:ln/>
        </p:spPr>
      </p:sp>
      <p:sp>
        <p:nvSpPr>
          <p:cNvPr id="19" name="Text 17"/>
          <p:cNvSpPr/>
          <p:nvPr/>
        </p:nvSpPr>
        <p:spPr>
          <a:xfrm>
            <a:off x="8668512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72600" y="17556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Lakehouse por capas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0" y="25146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+  </a:t>
            </a:r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 latencia, costo y flexibilidad; gobierno vía OCSF + Iceberg.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0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8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–  </a:t>
            </a:r>
            <a:pPr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componentes que operar → contenedores + IaC, alcance acotado.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424160" y="1298448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12B5A5"/>
          </a:solidFill>
          <a:ln/>
        </p:spPr>
      </p:sp>
      <p:sp>
        <p:nvSpPr>
          <p:cNvPr id="24" name="Text 22"/>
          <p:cNvSpPr/>
          <p:nvPr/>
        </p:nvSpPr>
        <p:spPr>
          <a:xfrm>
            <a:off x="10424160" y="1298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SELECCIONADA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0F2A4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212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Criterios de selección:  </a:t>
            </a:r>
            <a:pPr indent="0" marL="0">
              <a:buNone/>
            </a:pPr>
            <a:r>
              <a:rPr lang="en-US" sz="14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de investigación · costo de retención · gobernanza · resiliencia · operabilidad por un equipo pequeño.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51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 de validación: prototipo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Pila mínima en un solo nodo (docker-compose)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673352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1828800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sintético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21992" y="182880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B5A5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9736" y="1828800"/>
            <a:ext cx="1673352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828800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33088" y="182880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B5A5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70832" y="1828800"/>
            <a:ext cx="1673352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25696" y="1828800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44184" y="182880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B5A5"/>
                </a:solidFill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81928" y="1828800"/>
            <a:ext cx="1673352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36792" y="1828800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 OCSF + Sigma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55280" y="182880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B5A5"/>
                </a:solidFill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93024" y="1828800"/>
            <a:ext cx="1673352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47888" y="1828800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/ MinIO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866376" y="182880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B5A5"/>
                </a:solidFill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104120" y="1828800"/>
            <a:ext cx="1673352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158984" y="1828800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+ alerta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se demuestra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639312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639312"/>
            <a:ext cx="2697480" cy="109728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895344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Throughput y lag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9808" y="4599432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sostenido y lag de consumo bajo carga sintética creciente.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93008" y="3639312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93008" y="3639312"/>
            <a:ext cx="2697480" cy="109728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0" name="Text 28"/>
          <p:cNvSpPr/>
          <p:nvPr/>
        </p:nvSpPr>
        <p:spPr>
          <a:xfrm>
            <a:off x="3694176" y="3895344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Detección &lt; 60 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694176" y="4599432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alerta dispara ante un ataque inyectado (fuerza bruta, beaconing).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37376" y="3639312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37376" y="3639312"/>
            <a:ext cx="2697480" cy="109728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4" name="Text 32"/>
          <p:cNvSpPr/>
          <p:nvPr/>
        </p:nvSpPr>
        <p:spPr>
          <a:xfrm>
            <a:off x="6638544" y="3895344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Investigación + hunting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638544" y="4599432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sobre capa caliente y hunting histórico sobre la fría.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381744" y="3639312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381744" y="3639312"/>
            <a:ext cx="2697480" cy="109728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8" name="Text 36"/>
          <p:cNvSpPr/>
          <p:nvPr/>
        </p:nvSpPr>
        <p:spPr>
          <a:xfrm>
            <a:off x="9582912" y="3895344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Resiliencia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582912" y="4599432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Reproceso sin pérdida desde Kafka tras una caída simulada.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51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Riesgos, restricciones y supuestos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642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Validez de datos sintéticos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Mitigación: </a:t>
            </a:r>
            <a:pPr indent="0" marL="0">
              <a:buNone/>
            </a:pPr>
            <a:r>
              <a:rPr lang="en-US" sz="12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realistas e inyección de ataques conocidos; se declara como limitación.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6642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Complejidad operativa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30428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Mitigación: </a:t>
            </a:r>
            <a:pPr indent="0" marL="0">
              <a:buNone/>
            </a:pPr>
            <a:r>
              <a:rPr lang="en-US" sz="12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flujo + índice: despliegue en un solo nodo, acotado, con IaC.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0" y="146304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41080" y="16642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Conectividad de sedes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641080" y="230428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Mitigación: </a:t>
            </a:r>
            <a:pPr indent="0" marL="0">
              <a:buNone/>
            </a:pPr>
            <a:r>
              <a:rPr lang="en-US" sz="12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local en el colector edge y reenvío diferido al recuperar el enlace.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7673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Tiempo y alcance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44074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Mitigación: </a:t>
            </a:r>
            <a:pPr indent="0" marL="0">
              <a:buNone/>
            </a:pPr>
            <a:r>
              <a:rPr lang="en-US" sz="12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deliberadamente simple; lo evaluado es la infraestructura.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0" y="356616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37673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de salud / regulatorio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09160" y="44074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Mitigación: </a:t>
            </a:r>
            <a:pPr indent="0" marL="0">
              <a:buNone/>
            </a:pPr>
            <a:r>
              <a:rPr lang="en-US" sz="12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Minimización: solo eventos de seguridad; prototipo sin datos reales ni PHI.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0" y="356616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41080" y="37673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Supuesto de escala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41080" y="44074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Mitigación: </a:t>
            </a:r>
            <a:pPr indent="0" marL="0">
              <a:buNone/>
            </a:pPr>
            <a:r>
              <a:rPr lang="en-US" sz="12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~1.500 EPS / 4.000 pico declarados como punto de diseño.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51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trabajo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289304" y="1828800"/>
            <a:ext cx="603504" cy="60350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9304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633472" y="182880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B5A5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27889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1–2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312724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 y datos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4944" y="379476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+ dataset sintético versionado.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57016" y="1828800"/>
            <a:ext cx="603504" cy="60350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57016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01184" y="182880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B5A5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16352" y="26517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27889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3–4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12724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Ingesta + OCSF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62656" y="379476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ingesta con Kafka y normalización.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24728" y="1828800"/>
            <a:ext cx="603504" cy="60350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24728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168896" y="182880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B5A5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84064" y="26517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93792" y="27889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5–6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93792" y="312724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Almacén + detección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230368" y="379476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extremo a extremo por capas.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92440" y="1828800"/>
            <a:ext cx="603504" cy="60350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9244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436608" y="182880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B5A5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51776" y="26517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61504" y="27889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61504" y="312724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Consumo + monitoreo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498080" y="379476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Tablero, alertas y métricas del pipeline.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360152" y="1828800"/>
            <a:ext cx="603504" cy="60350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360152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9619488" y="26517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38100" dir="8100000">
              <a:srgbClr val="1F2A36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729216" y="27889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29216" y="312724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Pruebas + informe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765792" y="379476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Carga/resiliencia, medición y demo final.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B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CONCLUSIÓN TÉCNICA Y APORTE ESPERADO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base de telemetría de seguridad común, gobernada y reproducible — operable por un equipo pequeño.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200400"/>
            <a:ext cx="3520440" cy="109728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4930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híbrido por capas — edge en sedes, núcleo central — para detección en streaming e investigación histórica.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45152" y="32004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3200400"/>
            <a:ext cx="3520440" cy="109728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34930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medibles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19472" y="40690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1.500 EPS · &lt; 60 s a alerta · consulta 30 d p95 &lt; 5 s · reproceso sin pérdida.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67344" y="32004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67344" y="3200400"/>
            <a:ext cx="3520440" cy="109728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5" name="Text 13"/>
          <p:cNvSpPr/>
          <p:nvPr/>
        </p:nvSpPr>
        <p:spPr>
          <a:xfrm>
            <a:off x="8741664" y="34930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41664" y="40690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contenerizado y validable dentro del curso, con datos sintéticos versionados.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Anteproyecto integrador · Infraestructura para Ciencia de Datos · Koen Wittig · 9 de junio de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de Telemetría para Detección de Amenazas</dc:title>
  <dc:subject>PptxGenJS Presentation</dc:subject>
  <dc:creator>Anteproyecto</dc:creator>
  <cp:lastModifiedBy>Anteproyecto</cp:lastModifiedBy>
  <cp:revision>1</cp:revision>
  <dcterms:created xsi:type="dcterms:W3CDTF">2026-06-10T02:49:13Z</dcterms:created>
  <dcterms:modified xsi:type="dcterms:W3CDTF">2026-06-10T02:49:13Z</dcterms:modified>
</cp:coreProperties>
</file>